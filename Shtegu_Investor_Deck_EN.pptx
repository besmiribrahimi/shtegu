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t_logo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8880" y="86868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SHTEGU.APP • MASTER INVESTOR BRIEFING • PRISHTINA 2026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We Don't Build Parking Lots. We Monetize Trapped Asphalt.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31720"/>
            <a:ext cx="48463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Urban Arbitrage in Prishtina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In Prishtina commercial centers (Pejton, Qendër, Qafa), drivers circle 20–40 minutes per trip. Simultaneously, hundreds of private driveways and clinic spots sit idle behind manual padlocks.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31720"/>
            <a:ext cx="484632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Shtegu Solution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Surface-mounted, solar-powered BLE smart barriers deployed directly onto concrete. Drivers discover, reserve, and lower barriers with a single tap — zero civil works, zero trenching, zero permits.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NET CAPEX / STALL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€60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€110 landed - €50 host fee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NET FCF / STALL</a:t>
            </a:r>
          </a:p>
          <a:p>
            <a:pPr>
              <a:defRPr sz="1800" b="1">
                <a:solidFill>
                  <a:srgbClr val="047857"/>
                </a:solidFill>
              </a:defRPr>
            </a:pPr>
            <a:r>
              <a:t>€35.90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After 70% host rev-share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ACCELERATED PAYBACK</a:t>
            </a:r>
          </a:p>
          <a:p>
            <a:pPr>
              <a:defRPr sz="1800" b="1">
                <a:solidFill>
                  <a:srgbClr val="1D4ED8"/>
                </a:solidFill>
              </a:defRPr>
            </a:pPr>
            <a:r>
              <a:t>50 Days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~1.67 Months break-even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39" y="425196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399" y="4343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ANGEL ALLOCATION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€25k – €30k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15.0% Common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Founder: Besmir   •   Platform: shtegu.app   •   Prepared for: Driton Hapçiu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02 • DE-RISKED HARDWARE &amp;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Hardware Moat (De-Risked &amp; Ready)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20240"/>
            <a:ext cx="48463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Direct ODM Manufacturing Sourced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Ultra-Low Unit Cost: Raw hardware secured at $35–$45 per automated barrier (MOQ 5). Landed in Prishtina: ~€110 all-in.</a:t>
            </a:r>
            <a:br/>
            <a:br/>
            <a:r>
              <a:t>• Zero Infrastructure Works: Self-sustaining solar panel + cold-rated industrial battery down to -15°C with 60+ days standby.</a:t>
            </a:r>
            <a:br/>
            <a:br/>
            <a:r>
              <a:t>• Indestructible Build: 5-ton compressive drive-over load, IP67 waterproof enclosure, 180° anti-collision clutch &amp; 100 dB tamper siren.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8463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Firmware &amp; Connectivity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Nordic UART BLE 5.0: Open protocol standard (UUID: 6E400001-...). Seamless custom mobile app integration.</a:t>
            </a:r>
            <a:br/>
            <a:br/>
            <a:r>
              <a:t>• Zero Cellular SIM Cost: €0.00 / month. The driver's smartphone acts as the secure internet gateway to cloud.</a:t>
            </a:r>
            <a:br/>
            <a:br/>
            <a:r>
              <a:t>• Passive Occupancy Sensing: Broadcasts spot status (0 = vacant, 1 = occupied) directly in raw BLE advertising beacons.</a:t>
            </a:r>
            <a:br/>
            <a:br/>
            <a:r>
              <a:t>• 15-Minute Mount: Standard M10 expansion bolts secure the barrier with zero reliance on municipal street permits.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03 • IOT SYSTEM TOPOLOGY &amp; NORDIC UART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Architecture: Communication &amp; Fleet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996696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Real-Time System Topology (Phone-as-Gateway)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Shtegu Cloud (PostgreSQL / Redis / 4-Byte Key Auth) &lt;---&gt; HTTPS / REST &lt;---&gt; Mobile App (Flutter BLE Bridge) &lt;---&gt; BLE 5.0 Nordic UART (20-Byte Frame) &lt;---&gt; Autonomous Smart Barrier.</a:t>
            </a:r>
            <a:br/>
            <a:r>
              <a:t>Capital Efficiency: Completely eliminates €3–€5/month cellular SIM cards per individual street stall.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9184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2900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Live Command Flow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Discovery: Beacon without pairing (&lt;15m).</a:t>
            </a:r>
            <a:br/>
            <a:r>
              <a:t>• Cloud Key: 4-byte key derived from MAC.</a:t>
            </a:r>
            <a:br/>
            <a:r>
              <a:t>• Payload: 20-byte frame (DDTC 0x14 0x01).</a:t>
            </a:r>
            <a:br/>
            <a:r>
              <a:t>• Drop Speed: 75mm in 4-6s with RX confirmation.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9184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Passive Mesh Telemetry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Autonomous beacons every 1,000ms:</a:t>
            </a:r>
            <a:br/>
            <a:r>
              <a:t>  B1: Firmware revision</a:t>
            </a:r>
            <a:br/>
            <a:r>
              <a:t>  B2: Battery (0-9) + Occupancy (0/1)</a:t>
            </a:r>
            <a:br/>
            <a:r>
              <a:t>  B3: Arm status + Fault (0xEE)</a:t>
            </a:r>
            <a:br/>
            <a:r>
              <a:t>• Crowdsourced sync forwards packets.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291840"/>
            <a:ext cx="3154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42900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Commercial Clusters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1 Industrial BLE-to-MQTT unit (~€35 ESP32/Teltonika) on-site.</a:t>
            </a:r>
            <a:br/>
            <a:r>
              <a:t>• Facility Wi-Fi or 1 shared SIM.</a:t>
            </a:r>
            <a:br/>
            <a:r>
              <a:t>• Real-time concurrent tracking of 30+ stalls with sub-second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04 • CORE BUSINESS MODEL: 3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Core Business Model: The 3 Operating Modes &amp; Revenue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 1: Personal (Private Driveways)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€50 upfront installation fee + 12-month lock-in contract.</a:t>
            </a:r>
            <a:br/>
            <a:r>
              <a:t>• 70/30 parking revenue-share in favor of host.</a:t>
            </a:r>
            <a:br/>
            <a:r>
              <a:t>• Unlocks automatically between 08:30 and 16:30 while owner 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 2: Local (Clinics, Notaries, Offices)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€50 upfront installation fee + 12-month lock-in contract.</a:t>
            </a:r>
            <a:br/>
            <a:r>
              <a:t>• Flat monthly subscription (€50 – €70 / month).</a:t>
            </a:r>
            <a:br/>
            <a:r>
              <a:t>• Daytime: Free whitelist entry. Evenings/weekends: Paid public parking (70/30).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82880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 3: Enterprise (30+ Stall Complexes)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€300 / month flat SaaS retainer.</a:t>
            </a:r>
            <a:br/>
            <a:r>
              <a:t>• On-site stationary IoT BLE Gateway.</a:t>
            </a:r>
            <a:br/>
            <a:r>
              <a:t>• Centralized facility dashboard, remote multi-stall overrides, heatmaps &amp; dynamic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23360"/>
            <a:ext cx="48463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Physical A4 Micro-Billboards (Cash Floor)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Rigid 3mm Forex plate (~€1.80 print cost) leased at €15–€25/mo (modeled at €18/mo) to adjacent pharmacies/dentists. Covers cloud &amp; server costs before a car parks.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484632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 Micro-Transactions (Prepaid Wallet)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Drivers load wallet balances in blocks of €5, €10, or €15, eliminating fixed €0.20 + 2.5% swipe fees on €1.00 charges. Shtegu holds upfront float liquidity.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05 • UNIT ECONOMICS &amp; ACCELERATED PAYBACK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Ground-Truth Unit Economics &amp; Accelerated Payback (~50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20240"/>
            <a:ext cx="4846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Monthly Stall P&amp;L (Single Spot Breakdown)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Gross Parking Volume (3.5 hrs @ €1, 22 days):   €77.00</a:t>
            </a:r>
            <a:br/>
            <a:r>
              <a:t>• Host Revenue Share (70%):                       (€53.90)</a:t>
            </a:r>
            <a:br/>
            <a:r>
              <a:t>• Shtegu Net Parking Cut (30%):                   €23.10</a:t>
            </a:r>
            <a:br/>
            <a:r>
              <a:t>• Physical A4 Forex Ad Lease:                     +€18.00</a:t>
            </a:r>
            <a:br/>
            <a:r>
              <a:t>• Payment Processing &amp; Cloud Buffer:              (€5.20)</a:t>
            </a:r>
            <a:br/>
            <a:br/>
            <a:r>
              <a:t>Net Free Operating Cash Flow (FCF):     €35.90 /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84632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50-Day Capital Recovery Calculation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Landed Unit Cost (Hardware + DHL + Anchors):  €110.00</a:t>
            </a:r>
            <a:br/>
            <a:r>
              <a:t>Upfront Host Installation Fee:               -€50.00</a:t>
            </a:r>
            <a:br/>
            <a:r>
              <a:t>Net Out-of-Pocket CapEx Exposure:              €60.00</a:t>
            </a:r>
            <a:br/>
            <a:br/>
            <a:r>
              <a:t>Hardware Payback Period:</a:t>
            </a:r>
            <a:br/>
            <a:r>
              <a:t>€60.00 Net CapEx / €35.90 Monthly FCF = 1.67 Mos (~50 Days)</a:t>
            </a:r>
            <a:br/>
            <a:br/>
            <a:r>
              <a:t>Key Takeaway for Investor:</a:t>
            </a:r>
            <a:br/>
            <a:r>
              <a:t>Net capital risk per deployed stall is slashed from €110 to €60. Asset achieves full recovery in ~50 days, generating recurring yield for the remaining 10+ months of the locked contract.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06 • LEAN OPERATIONS &amp; CREATOR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Lean Operations (Zero Burn) &amp; Hyper-Local Creator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20240"/>
            <a:ext cx="4846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 Burn Operational Discipline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Office Overhead: €0. Founder-led mobile field operations; inventory stored in vehicle/garage.</a:t>
            </a:r>
            <a:br/>
            <a:br/>
            <a:r>
              <a:t>• Fixed Payroll: €0. Mobile app, cloud architecture, and firmware handled directly by founder.</a:t>
            </a:r>
            <a:br/>
            <a:br/>
            <a:r>
              <a:t>• Piece-Rate Installation: €15 per barrier paid to gig drillers on anchor days, avoiding fixed payroll liabilities.</a:t>
            </a:r>
            <a:br/>
            <a:br/>
            <a:r>
              <a:t>• Fixed Monthly Burn: ~€50 strictly for cloud databases and domain hosting.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84632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Hyper-Local Creator Distribution (CAC &lt; €0.25)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High-Reach Creator Distribution: Direct promotion with top Prishtina creators (Burim Pacolli, Don Zhugani).</a:t>
            </a:r>
            <a:br/>
            <a:br/>
            <a:r>
              <a:t>• Referral Promo Codes (BURIM, DONI): Provides €2 introductory parking credit for new drivers.</a:t>
            </a:r>
            <a:br/>
            <a:br/>
            <a:r>
              <a:t>• Sub-€0.25 CAC: Viral TikTok/Instagram content drives immediate app downloads and wallet top-ups without speculative marketing spend.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07 • SCALING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Growth Projections (Prishtina Rollout)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3154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1 (M1–M3)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Pilot Validation (10–20 Stalls)</a:t>
            </a:r>
            <a:br/>
            <a:br/>
            <a:r>
              <a:t>• Deployed across central Pejton.</a:t>
            </a:r>
            <a:br/>
            <a:r>
              <a:t>• €50 upfront host fee validated.</a:t>
            </a:r>
            <a:br/>
            <a:r>
              <a:t>• Full capital payback in ~50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154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2 (M4–M9)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Corridor Expansion (50–75 Stalls)</a:t>
            </a:r>
            <a:br/>
            <a:br/>
            <a:r>
              <a:t>• Expansion in Qendër, Qafa, Ulpianë.</a:t>
            </a:r>
            <a:br/>
            <a:r>
              <a:t>• First wave of B2B contracts (€70/mo).</a:t>
            </a:r>
            <a:br/>
            <a:r>
              <a:t>• Initial Forex ad plates monetized.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011680"/>
            <a:ext cx="315468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1488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Phase 3 (M10–M15)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Scale (150 Active Stalls)</a:t>
            </a:r>
            <a:br/>
            <a:br/>
            <a:r>
              <a:t>• €5,300+ to €6,800+ monthly net FCF.</a:t>
            </a:r>
            <a:br/>
            <a:r>
              <a:t>• Annual EBITDA exceeding €81,000+.</a:t>
            </a:r>
            <a:br/>
            <a:r>
              <a:t>• Target Valuation: €650k – €1.0M.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SLIDE 08 • TERM SHEET &amp;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Investment Offer &amp; Use of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SHTEGU.APP • Prepared for Driton Hapçiu • Prishtina Pilot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INVESTMENT AMOUNT</a:t>
            </a:r>
          </a:p>
          <a:p>
            <a:pPr>
              <a:defRPr sz="1800" b="1">
                <a:solidFill>
                  <a:srgbClr val="1D4ED8"/>
                </a:solidFill>
              </a:defRPr>
            </a:pPr>
            <a:r>
              <a:t>€25k – €30k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Equity / Convertible Note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EQUITY STAKE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15.0%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Clean Common Equity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200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FOUNDER DRAW</a:t>
            </a:r>
          </a:p>
          <a:p>
            <a:pPr>
              <a:defRPr sz="1800" b="1">
                <a:solidFill>
                  <a:srgbClr val="047857"/>
                </a:solidFill>
              </a:defRPr>
            </a:pPr>
            <a:r>
              <a:t>€0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100% Cash into Deployable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54680"/>
            <a:ext cx="9966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Capital Deployment Breakdown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• 70% Hardware Procurement: Direct batch production &amp; express air logistics for 80–100 smart barriers.</a:t>
            </a:r>
            <a:br/>
            <a:r>
              <a:t>• 15% Field Tooling &amp; Signage: Industrial hammer drills, anchor hardware, and branded Forex ad plates.</a:t>
            </a:r>
            <a:br/>
            <a:r>
              <a:t>• 15% Reserve Capital: Merchant processor liquidity reserves and legal registrations.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80560"/>
            <a:ext cx="996696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Closing Pitch Note for Mr. Driton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"Mr. Driton, this is not an app hoping to make money in five years by burning cash on marketing. With our upgraded model, hosts pay €50 upfront for installation and sign a 12-month lock-in contract. This drops our net CapEx risk from €110 down to just €60 per barrier. With our monthly cash flow, each stall completely recovers its cost in ~50 days. We have zero office overhead, zero unnecessary payroll, and zero reliance on municipal tenders. 100% of your investment goes directly into deployable, revenue-generating physical hardware. Let us launch the first Pejton corridor pilot this month."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